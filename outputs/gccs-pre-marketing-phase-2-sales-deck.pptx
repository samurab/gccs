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c3a099754c41f7" /><Relationship Type="http://schemas.openxmlformats.org/officeDocument/2006/relationships/extended-properties" Target="/docProps/app.xml" Id="R0d62b4a3a9024093" /><Relationship Type="http://schemas.openxmlformats.org/officeDocument/2006/relationships/officeDocument" Target="/ppt/presentation.xml" Id="R3b333ebd7e1741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3a4e38aa14e77"/>
  </p:sldMasterIdLst>
  <p:notesMasterIdLst>
    <p:notesMasterId xmlns:r="http://schemas.openxmlformats.org/officeDocument/2006/relationships" r:id="R3b8c00dae66c4b31"/>
  </p:notesMasterIdLst>
  <p:sldIdLst>
    <p:sldId xmlns:r="http://schemas.openxmlformats.org/officeDocument/2006/relationships" id="256" r:id="R32945a69442f4577"/>
    <p:sldId xmlns:r="http://schemas.openxmlformats.org/officeDocument/2006/relationships" id="257" r:id="Rd257e251311649a3"/>
    <p:sldId xmlns:r="http://schemas.openxmlformats.org/officeDocument/2006/relationships" id="258" r:id="R9a46f728fd8d4650"/>
    <p:sldId xmlns:r="http://schemas.openxmlformats.org/officeDocument/2006/relationships" id="259" r:id="R41b894adece04929"/>
    <p:sldId xmlns:r="http://schemas.openxmlformats.org/officeDocument/2006/relationships" id="260" r:id="Ra1967a5db8aa4e2d"/>
    <p:sldId xmlns:r="http://schemas.openxmlformats.org/officeDocument/2006/relationships" id="261" r:id="Rc05b8df78ff64449"/>
    <p:sldId xmlns:r="http://schemas.openxmlformats.org/officeDocument/2006/relationships" id="262" r:id="R16b4f1ad95474b92"/>
    <p:sldId xmlns:r="http://schemas.openxmlformats.org/officeDocument/2006/relationships" id="263" r:id="Rbd45c2ca46824b22"/>
    <p:sldId xmlns:r="http://schemas.openxmlformats.org/officeDocument/2006/relationships" id="264" r:id="R8e4735baa3864374"/>
    <p:sldId xmlns:r="http://schemas.openxmlformats.org/officeDocument/2006/relationships" id="265" r:id="R166b05f9c42b4df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54f94d485a4753" /><Relationship Type="http://schemas.openxmlformats.org/officeDocument/2006/relationships/slideMaster" Target="/ppt/slideMasters/slideMaster1.xml" Id="R0913a4e38aa14e77" /><Relationship Type="http://schemas.openxmlformats.org/officeDocument/2006/relationships/notesMaster" Target="/ppt/notesMasters/notesMaster1.xml" Id="R3b8c00dae66c4b31" /><Relationship Type="http://schemas.openxmlformats.org/officeDocument/2006/relationships/presProps" Target="/ppt/presProps.xml" Id="R8605050859b54788" /><Relationship Type="http://schemas.openxmlformats.org/officeDocument/2006/relationships/tableStyles" Target="/ppt/tableStyles.xml" Id="R7817cf18555d4ee7" /><Relationship Type="http://schemas.openxmlformats.org/officeDocument/2006/relationships/slide" Target="/ppt/slides/slide1.xml" Id="R32945a69442f4577" /><Relationship Type="http://schemas.openxmlformats.org/officeDocument/2006/relationships/slide" Target="/ppt/slides/slide2.xml" Id="Rd257e251311649a3" /><Relationship Type="http://schemas.openxmlformats.org/officeDocument/2006/relationships/slide" Target="/ppt/slides/slide3.xml" Id="R9a46f728fd8d4650" /><Relationship Type="http://schemas.openxmlformats.org/officeDocument/2006/relationships/slide" Target="/ppt/slides/slide4.xml" Id="R41b894adece04929" /><Relationship Type="http://schemas.openxmlformats.org/officeDocument/2006/relationships/slide" Target="/ppt/slides/slide5.xml" Id="Ra1967a5db8aa4e2d" /><Relationship Type="http://schemas.openxmlformats.org/officeDocument/2006/relationships/slide" Target="/ppt/slides/slide6.xml" Id="Rc05b8df78ff64449" /><Relationship Type="http://schemas.openxmlformats.org/officeDocument/2006/relationships/slide" Target="/ppt/slides/slide7.xml" Id="R16b4f1ad95474b92" /><Relationship Type="http://schemas.openxmlformats.org/officeDocument/2006/relationships/slide" Target="/ppt/slides/slide8.xml" Id="Rbd45c2ca46824b22" /><Relationship Type="http://schemas.openxmlformats.org/officeDocument/2006/relationships/slide" Target="/ppt/slides/slide9.xml" Id="R8e4735baa3864374" /><Relationship Type="http://schemas.openxmlformats.org/officeDocument/2006/relationships/slide" Target="/ppt/slides/slide10.xml" Id="R166b05f9c42b4d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cc43e874bf44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c919db55434b8a" /><Relationship Type="http://schemas.openxmlformats.org/officeDocument/2006/relationships/notesMaster" Target="/ppt/notesMasters/notesMaster1.xml" Id="Rf513211a31234a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52855d96cb49b5" /><Relationship Type="http://schemas.openxmlformats.org/officeDocument/2006/relationships/notesMaster" Target="/ppt/notesMasters/notesMaster1.xml" Id="R8761d51f5118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12d94b9343419e" /><Relationship Type="http://schemas.openxmlformats.org/officeDocument/2006/relationships/notesMaster" Target="/ppt/notesMasters/notesMaster1.xml" Id="R6644cf06cedb45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d75eb22e98481b" /><Relationship Type="http://schemas.openxmlformats.org/officeDocument/2006/relationships/notesMaster" Target="/ppt/notesMasters/notesMaster1.xml" Id="Rc323301ac80f47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706ab9c3f84c34" /><Relationship Type="http://schemas.openxmlformats.org/officeDocument/2006/relationships/notesMaster" Target="/ppt/notesMasters/notesMaster1.xml" Id="R077c449b5e1a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336ac4f19741fe" /><Relationship Type="http://schemas.openxmlformats.org/officeDocument/2006/relationships/notesMaster" Target="/ppt/notesMasters/notesMaster1.xml" Id="Rf8e30dc9db1848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9d9955bd77407f" /><Relationship Type="http://schemas.openxmlformats.org/officeDocument/2006/relationships/notesMaster" Target="/ppt/notesMasters/notesMaster1.xml" Id="R79ee503ea6904c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e782154ec64e7a" /><Relationship Type="http://schemas.openxmlformats.org/officeDocument/2006/relationships/notesMaster" Target="/ppt/notesMasters/notesMaster1.xml" Id="R91f9d584b81c48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aec0c4a314437e" /><Relationship Type="http://schemas.openxmlformats.org/officeDocument/2006/relationships/notesMaster" Target="/ppt/notesMasters/notesMaster1.xml" Id="Rdd6801b1886b45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bbd3b520b54063" /><Relationship Type="http://schemas.openxmlformats.org/officeDocument/2006/relationships/notesMaster" Target="/ppt/notesMasters/notesMaster1.xml" Id="Rb354637a513649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7066d9c53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cbd26f7f5142d9" /><Relationship Type="http://schemas.openxmlformats.org/officeDocument/2006/relationships/slideLayout" Target="/ppt/slideLayouts/slideLayout1.xml" Id="Rbb76332b254a4d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76332b254a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1399c555843c7" /><Relationship Type="http://schemas.openxmlformats.org/officeDocument/2006/relationships/notesSlide" Target="/ppt/notesSlides/notesSlide1.xml" Id="R6e5a98b204ec42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b0cc49d3d49be" /><Relationship Type="http://schemas.openxmlformats.org/officeDocument/2006/relationships/notesSlide" Target="/ppt/notesSlides/notesSlide2.xml" Id="R02b3ef0f1e144e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ff4b136814ea5" /><Relationship Type="http://schemas.openxmlformats.org/officeDocument/2006/relationships/notesSlide" Target="/ppt/notesSlides/notesSlide3.xml" Id="R1d2b08c61c8c44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c0f896ea54261" /><Relationship Type="http://schemas.openxmlformats.org/officeDocument/2006/relationships/notesSlide" Target="/ppt/notesSlides/notesSlide4.xml" Id="R3bd28d42dfb24d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14ee548c4d2d" /><Relationship Type="http://schemas.openxmlformats.org/officeDocument/2006/relationships/notesSlide" Target="/ppt/notesSlides/notesSlide5.xml" Id="R7f04257c041e4f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7bdaaba0b4a1f" /><Relationship Type="http://schemas.openxmlformats.org/officeDocument/2006/relationships/notesSlide" Target="/ppt/notesSlides/notesSlide6.xml" Id="R4b689248521141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e1036da5429b" /><Relationship Type="http://schemas.openxmlformats.org/officeDocument/2006/relationships/notesSlide" Target="/ppt/notesSlides/notesSlide7.xml" Id="R4119569e9a5b4a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17fc303274e0a" /><Relationship Type="http://schemas.openxmlformats.org/officeDocument/2006/relationships/notesSlide" Target="/ppt/notesSlides/notesSlide8.xml" Id="Ra597053bd0dc4f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fbbd416464972" /><Relationship Type="http://schemas.openxmlformats.org/officeDocument/2006/relationships/notesSlide" Target="/ppt/notesSlides/notesSlide9.xml" Id="R50c041b8b0ba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bb38f75f8436b" /><Relationship Type="http://schemas.openxmlformats.org/officeDocument/2006/relationships/notesSlide" Target="/ppt/notesSlides/notesSlide10.xml" Id="R8b9388943f99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E9C8A7E-CC80-4B08-9E83-79D46659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Pre-Marketing Phase 2: Build Sales Assets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C3B77B7-C7AC-4709-8090-19BD2274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5C72336-EEC5-49AB-A97C-06537583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9906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 controlled path from discovery to first customer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03DB94F-2F79-4C4B-A47A-2A630D9C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685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Sales narrative for small U.S. government contractors that need defensible compliance workflows without uploading CUI.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107C9BD-C033-47D2-BCB6-BEF6123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8497844-E8CA-46EF-B083-0D856CB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5273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C0BB1254-7161-48BF-9FC3-3CDC769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Small govcon teams know the work matters, but the system is fragmented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2CA85AB-79E2-48B7-824A-9AB1EA3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The pain is not a lack of forms. It is the daily gap between contracts, obligations, owners, evidence, and audit-ready proof.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54B08219-8563-45C1-A962-6F78BAA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F175EB-2978-44F4-A723-4B6F30D5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CONTRACTS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C9E6E08-62CC-481E-9CAB-1CCA367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Clauses arrive faster than teams can operationalize them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4875015-60CC-4BC2-988E-20EA9A83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FAR, DFARS, flow-downs, certifications, and customer requests turn into disconnected spreadsheets and inbox threads.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92B0F33-2EED-460A-A2EC-54DD977B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9FB1F28-D459-4015-99EB-DF57A5BD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OWNERSHIP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097ED10-2AFA-4A55-8080-604AAA63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Compliance work has no durable operating rhythm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BE460D-E54A-42F3-8DA7-84D9B9E4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Tasks, reminders, renewals, subcontractor follow-ups, and evidence requests depend on individual memory.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C473522-5D92-4B5C-A1A4-D67B5BD3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AF0CE49-2EFC-4085-95C3-5928E03D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PROOF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C07ED9A-D9C6-48C7-A628-7069AED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33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Readiness evidence is difficult to retrieve under pressure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E4F063-540E-465A-9E3B-6011C7C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When a prime, auditor, or customer asks, teams need source-backed status and evidence history, not a scramble.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C74FEB-751D-4FFF-804A-4A4B78A0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C91920A-F427-4C12-AAF8-982E76B3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6044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F63F1E1-D44A-4FED-B7F6-A749BFEC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GCCS sells an operating system, not a certification shortcut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C8FEF11-777A-4154-956A-4FAEFFF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The promise must stay narrow: organize, track, prepare, and document compliance work with traceable sources and reviewable workflows.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EAFC17B4-0440-4542-A3F6-63192BD3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2145D2F-CDAD-4715-BE09-D3D68EEC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KNOW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2C25769-7710-4D07-B006-A7F3A26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Know what applies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10CFEB-6C22-4564-9211-E3BB5A0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Company, contract, clause, program, subcontractor, and CMMC readiness context feed a practical obligation view.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D19250F-EA8C-4006-ACBA-9262A0AA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D1480E5-AB21-418E-B4D8-D94E485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8BEEB4B-02E7-47A1-BE17-49725E4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7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Turn obligations into work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865A86-BF3D-4E17-A57D-05E95B81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Assign owners, due dates, evidence requests, reminders, and follow-ups inside one tenant-scoped workflow.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32FFE47-15A9-4BCD-B792-E95ECC3B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3FF7123-F5F2-4753-8B38-DBFCC136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17A7FB-0D4A-4EE3-89CB-173922A5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Produce defensible records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7588338-3A66-42C9-9CCE-23186504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Reports preserve source links, review state, evidence metadata, and audit history for customer reviews.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6164A81-FE33-4F44-8934-588F2207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93E9243-17D6-44EF-ABD6-655D7ED6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2599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784641BE-8FD8-40D5-B728-0F7C37F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81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MVP workflow connects contract intake to report-ready evidence</a:t>
            </a:r>
          </a:p>
        </p:txBody>
      </p:sp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C8374348-D617-45C5-BA31-69ACDE4D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1AA8BD1-4AE2-45C9-87A4-2020099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6365751-1DAE-4C36-89B9-C25281CF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Company profile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7A810CB-E385-4CFF-9570-F1F1742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UEI, CAGE, NAICS, certifications, role, posture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C0099C0-26C7-46E0-AFDE-E435534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956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2CDB529-E9E1-49AA-A7F7-8A1B8D85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43125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730F271-2077-4040-90C1-1F6C5DC0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241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B7A5B5C-3DBB-46DC-B782-74B824C7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9527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96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Contract intake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54F742-E3D9-4099-907D-9E948235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5760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Allowed files, metadata, manual clause tagging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1839AA3-EFB7-4300-8228-7B910EEB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956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DC3B0F77-C987-429C-BD5C-5F2A45B7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3125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49CDA3E-B4B0-43E9-984A-D9E82C1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9DCCB6E-B7C2-413D-91EA-DA0A8569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527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Obligation dashboard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C34529B-7F6A-4462-85A3-1135682C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5760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Source-backed actions, risk, owner, due date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F65ACAD-F046-4BDA-AD8E-23356322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956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5A938EE-5D9E-43CB-B2AF-DC4088DF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43125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84E757C-020F-4134-B538-D81B409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3241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D0545B8-A31C-45F1-8F13-A7230126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9527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4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Evidence vault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23A1ABC-3A96-4917-9A68-BCA76B6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5760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Allowed evidence, links, status, expiration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52B0A5BF-5D46-4916-AB25-B52D0B77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29565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70A81402-7B9A-4C16-AB2C-72D98CFA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18097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4F9BF8F-7FA5-4373-AC38-D6DAF21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2410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4FB4397-40F7-41E0-A7F0-CE3113C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Reports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1D48B8B-E3B9-4A94-AE19-B240406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57600"/>
            <a:ext cx="1466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Obligation matrix, readiness, evidence package, audit log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60D427B-19FF-4F64-A350-6E5CC55B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Every step must respect tenant boundaries, RBAC, audit history, and the No-CUI upload posture.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32AFF49-DF79-4D1F-A577-377E5C66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276C5FB-C1F4-4239-ACB5-65EF1B05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50707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89F3AFEC-871E-4856-8311-900AE587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pilot story is strongest where the buyer already feels review pressure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A340AF2-9C62-407A-B3C0-58ACB51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Pre-marketing discovery should prioritize teams with immediate compliance work and disqualify prospects that require deferred capabilities.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5DD94A13-5374-4FE4-9349-A13E416F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D6F3934-AB53-4175-B70C-4B5BC925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PRIMARY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1723967-21A2-40C3-95D4-30E86EC0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0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Small DoD subcontractors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42EC95E-0D00-4E1B-A5C4-8EAB8C51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Need CMMC readiness tracking, prime flow-down discipline, and evidence packages without a heavy GRC rollout.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4D83E5E-ACE7-4C8A-A24A-3F57ABCB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9772AE-299F-4C35-AE1C-E3B44BDC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EXPANSION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AF0B9F-DEEB-422B-9328-DA275F68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MSPs and CMMC consultants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7568FFD-B6B8-4ADA-8099-8E2DACB2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Can manage multiple client tenants only through explicit membership, least privilege, and audit logging.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91167BD-8C84-474D-93B1-F8CED91E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28A4B74-7E09-4269-8694-D05EC5F8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41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4141"/>
                </a:solidFill>
                <a:latin typeface="Helvetica Neue"/>
                <a:ea typeface="Helvetica Neue"/>
                <a:cs typeface="Helvetica Neue"/>
              </a:rPr>
              <a:t>NOT YET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A1CA948-0AAB-4049-9BE6-AE823B8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CUI storage or certification guarantees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0FF2D01-1A7D-46D7-83ED-ABF77C19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Real CUI, legal opinions, CMMC assessment outcomes, and direct federal sale claims are outside the MVP.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3E2CDA-D819-4B26-AC60-A13DA496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595C84-435B-4668-B2B9-DD5E5EA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3104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A9E734B9-439E-45AF-886A-B53C49A8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 controlled sales deck must make the guardrails visible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15A2376-2DD0-447F-BA19-957D5D51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These constraints are not footnotes; they are qualification criteria for the first customer pipeline.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59C12ACF-EE25-41E5-B045-5EE81AAB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5"/>
          </a:solidFill>
          <a:ln xmlns:a="http://schemas.openxmlformats.org/drawingml/2006/main" w="9525">
            <a:solidFill>
              <a:srgbClr val="BBDAC8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82D23DB-5826-456E-9D5B-E5D17224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What GCCS can say</a:t>
            </a:r>
          </a:p>
        </p:txBody>
      </p:sp>
      <p:sp>
        <p:nvSpPr>
          <p:cNvPr id="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A52A7224-98BF-4AC8-A623-FF2D74D1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00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5"/>
          </a:solidFill>
          <a:ln xmlns:a="http://schemas.openxmlformats.org/drawingml/2006/main" w="0">
            <a:solidFill>
              <a:srgbClr val="258A55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67DA475-5D8C-4349-9597-2B16CFBB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Organize compliance workflows</a:t>
            </a:r>
          </a:p>
        </p:txBody>
      </p:sp>
      <p:sp>
        <p:nvSpPr>
          <p:cNvPr id="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B33E5031-29B0-437B-A4E9-54110C51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5"/>
          </a:solidFill>
          <a:ln xmlns:a="http://schemas.openxmlformats.org/drawingml/2006/main" w="0">
            <a:solidFill>
              <a:srgbClr val="258A55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F3DFA4D-A025-4E5A-9374-AECA0059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Track obligations, evidence, and owners</a:t>
            </a:r>
          </a:p>
        </p:txBody>
      </p:sp>
      <p:sp>
        <p:nvSpPr>
          <p:cNvPr id="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B71C8E81-DBBC-4DDB-8CCA-2B40DF2F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00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5"/>
          </a:solidFill>
          <a:ln xmlns:a="http://schemas.openxmlformats.org/drawingml/2006/main" w="0">
            <a:solidFill>
              <a:srgbClr val="258A55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645C10-F848-4257-9343-314AD1A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243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Prepare reports with source and review metadata</a:t>
            </a:r>
          </a:p>
        </p:txBody>
      </p:sp>
      <p:sp>
        <p:nvSpPr>
          <p:cNvPr id="11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81FA1BCE-04CC-41C4-AD7A-092D5C80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A55"/>
          </a:solidFill>
          <a:ln xmlns:a="http://schemas.openxmlformats.org/drawingml/2006/main" w="0">
            <a:solidFill>
              <a:srgbClr val="258A55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4DA7596-3E3C-42C5-87C8-99FE2CB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58A55"/>
                </a:solidFill>
                <a:latin typeface="Helvetica Neue"/>
                <a:ea typeface="Helvetica Neue"/>
                <a:cs typeface="Helvetica Neue"/>
              </a:rPr>
              <a:t>Support draft-only AI where review-gated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6833630A-EC1B-4705-B02F-D16B4813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4"/>
          </a:solidFill>
          <a:ln xmlns:a="http://schemas.openxmlformats.org/drawingml/2006/main" w="9525">
            <a:solidFill>
              <a:srgbClr val="E2B6B6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A2A356-1030-40DD-954C-C1DF922A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941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94141"/>
                </a:solidFill>
                <a:latin typeface="Helvetica Neue"/>
                <a:ea typeface="Helvetica Neue"/>
                <a:cs typeface="Helvetica Neue"/>
              </a:rPr>
              <a:t>What GCCS must not claim</a:t>
            </a:r>
          </a:p>
        </p:txBody>
      </p:sp>
      <p:sp>
        <p:nvSpPr>
          <p:cNvPr id="15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51F13A4-6BC1-4FDD-83F6-0FDFEAC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00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141"/>
          </a:solidFill>
          <a:ln xmlns:a="http://schemas.openxmlformats.org/drawingml/2006/main" w="0">
            <a:solidFill>
              <a:srgbClr val="D94141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ADF6F75-A9E8-489E-AE5D-7A7D3810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242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rPr>
              <a:t>Provides legal, labor, accounting, or CMMC assessment advice</a:t>
            </a:r>
          </a:p>
        </p:txBody>
      </p:sp>
      <p:sp>
        <p:nvSpPr>
          <p:cNvPr id="17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5B63775B-6691-4DAF-A58D-623B9353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00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141"/>
          </a:solidFill>
          <a:ln xmlns:a="http://schemas.openxmlformats.org/drawingml/2006/main" w="0">
            <a:solidFill>
              <a:srgbClr val="D94141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245225C-EBD9-4A01-8370-29C1C169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242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rPr>
              <a:t>Certifies compliance or guarantees readiness</a:t>
            </a:r>
          </a:p>
        </p:txBody>
      </p:sp>
      <p:sp>
        <p:nvSpPr>
          <p:cNvPr id="19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65561CC0-9A3D-4E50-B4C9-90CE8423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00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141"/>
          </a:solidFill>
          <a:ln xmlns:a="http://schemas.openxmlformats.org/drawingml/2006/main" w="0">
            <a:solidFill>
              <a:srgbClr val="D94141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CB6A6E6-687E-4AC3-8A0E-3C87F7C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2430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rPr>
              <a:t>Stores real CUI in default MVP tenants</a:t>
            </a:r>
          </a:p>
        </p:txBody>
      </p:sp>
      <p:sp>
        <p:nvSpPr>
          <p:cNvPr id="21" name="bullet-marker">
            <a:extLst xmlns:a="http://schemas.openxmlformats.org/drawingml/2006/main">
              <a:ext uri="{FF2B5EF4-FFF2-40B4-BE49-F238E27FC236}">
                <a16:creationId xmlns:a16="http://schemas.microsoft.com/office/drawing/2014/main" id="{1DBC6EBE-0B80-447C-A97D-3F41E12B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141"/>
          </a:solidFill>
          <a:ln xmlns:a="http://schemas.openxmlformats.org/drawingml/2006/main" w="0">
            <a:solidFill>
              <a:srgbClr val="D94141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80BA1A8-A485-4EFA-B1B2-66CF080F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24350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94141"/>
                </a:solidFill>
                <a:latin typeface="Helvetica Neue"/>
                <a:ea typeface="Helvetica Neue"/>
                <a:cs typeface="Helvetica Neue"/>
              </a:rPr>
              <a:t>Has government approval unless formally true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2C6AB75-05AB-4270-9F79-CE3719DD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26C871A-8AB9-4BE7-A695-4ACD9C50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447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20411B5-7315-47C0-B30B-BB352EBD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demo should show one complete job, not every feature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41FEF5-ACD8-4ED2-87D6-4A7837CC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620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For discovery, the sales asset should prove that GCCS can turn one contract into owned work and usable proof.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E969222-A08D-44DD-911E-03CBA4D7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E"/>
          </a:solidFill>
          <a:ln xmlns:a="http://schemas.openxmlformats.org/drawingml/2006/main" w="0">
            <a:solidFill>
              <a:srgbClr val="D2D7D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C58C9B1-E99F-4ED5-A6F5-08851BE3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 Set posture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E7417CF-1B9C-4FB1-B4D4-A2A8D21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36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Company profile, No-CUI acknowledgement, contract metadata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1D8CE85-A9A9-4BC2-B086-9BD7776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E"/>
          </a:solidFill>
          <a:ln xmlns:a="http://schemas.openxmlformats.org/drawingml/2006/main" w="0">
            <a:solidFill>
              <a:srgbClr val="D2D7D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CE6D2A-873F-4148-88A0-4BCCD3F2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 Tag clauses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B010C50-A99C-4DFA-AD09-43327C8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765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Manual clause tagging and source-backed obligation creation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FADC58E0-8019-469C-94CF-5C301C08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E"/>
          </a:solidFill>
          <a:ln xmlns:a="http://schemas.openxmlformats.org/drawingml/2006/main" w="0">
            <a:solidFill>
              <a:srgbClr val="D2D7D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8479D3-4B64-48F4-BFF3-B9B53B27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3. Assign work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DA160DA-1331-4603-8E57-B15441CC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952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Owners, due dates, reminders, evidence requests, subcontractor follow-up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4F314306-AAF9-4948-B688-BEFF2FB6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E"/>
          </a:solidFill>
          <a:ln xmlns:a="http://schemas.openxmlformats.org/drawingml/2006/main" w="0">
            <a:solidFill>
              <a:srgbClr val="D2D7D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93299A8-EB1D-4E5A-BB20-8BA62C58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4. Produce proof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8C40E5F-BFEF-4D4B-B18C-A040C341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62475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1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Obligation matrix, CMMC readiness view, evidence package metadata, audit log export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278BB78-7F89-49FC-8B9E-348B8DDB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E"/>
          </a:solidFill>
          <a:ln xmlns:a="http://schemas.openxmlformats.org/drawingml/2006/main" w="0">
            <a:solidFill>
              <a:srgbClr val="D2D7DE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73C785D-31D6-413B-9806-90F4C0B8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5455DBF-E156-495C-8DB0-25CEB8BA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19708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04CF1038-6E75-40DB-9363-2FB60392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2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pilot offer should be narrow enough to complete without engineering support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B57D57F-FFC3-4370-8EAD-8A262E2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38275"/>
            <a:ext cx="881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A first customer pilot succeeds when the customer can finish the core workflow and leave with records they can use.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747D1DAF-08B5-4027-9F32-C58B0A0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E423A28-57ED-413B-9AE2-251875C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3FB5A42-1E41-4DFA-A5E0-C17EC8BD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8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One tenant, one workflow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FDCADA-305F-4F2A-AD2C-C7E90AE7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Company profile, one or more contracts, manual clause tagging, obligation dashboard, tasks, evidence, and reports.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0412B9B4-D2B7-4426-9949-197EF5C5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3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AADB58-8EEC-43AB-A79A-9D2E3FB6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CUSTOMER INPUT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439BDDB-D984-4D76-BC3F-4FF5DAD3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Redacted or non-CUI material only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CF16C21-8810-436A-8851-01FE9551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Use metadata, non-sensitive documents, synthetic examples, and allowed evidence under the default MVP data policy.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C02F6313-7012-4CC4-829A-F1E22332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428875"/>
            <a:ext cx="35306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559F96E-C112-4292-8573-63A10A6D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2686050"/>
            <a:ext cx="307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SUCCESS SIGNAL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B19AEAD-B0DA-464F-A573-8FE57395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105150"/>
            <a:ext cx="3073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Report-ready status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DB226D3-AE3E-4721-A410-2E40CA78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0" y="3952875"/>
            <a:ext cx="3073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Customer can produce an obligation matrix, readiness view, evidence package metadata, and audit-log record.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F96DC85-A521-4C43-AB4E-13DF9F9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D157639-6EDD-4FF7-A657-998D5CD6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20172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FCBF6F98-7FDF-4329-9E74-5C2974D8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The discovery-to-first-customer pipeline has explicit gates</a:t>
            </a:r>
          </a:p>
        </p:txBody>
      </p:sp>
      <p:sp>
        <p:nvSpPr>
          <p:cNvPr id="2" name="panel">
            <a:extLst xmlns:a="http://schemas.openxmlformats.org/drawingml/2006/main">
              <a:ext uri="{FF2B5EF4-FFF2-40B4-BE49-F238E27FC236}">
                <a16:creationId xmlns:a16="http://schemas.microsoft.com/office/drawing/2014/main" id="{C16FD268-8353-41F1-8B26-2C69C9CA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14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90216C8-7CD7-431A-9F48-A610B620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24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28564EE-D34F-4A39-8BA3-95A95780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Discovery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22E611-3BBF-4D3A-BDA7-D631EDF8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Pain, role, contract type, buyer urgency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13D6311A-BD88-470A-A795-0B960D23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59F246B-EDCF-4A40-A399-BD1B819D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95500"/>
            <a:ext cx="1714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F4C32D4-5486-445F-9E16-F949E20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24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FF86CC3-8EAC-45B1-8B9B-77DCFB31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76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Fit screen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97A01CD-5213-4752-A3C8-5DB47A9E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24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No-CUI, small govcon, near-term workflow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C1773B2-ACF7-475F-BD5B-EA028472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EAE83652-D325-456B-9593-A4066473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95500"/>
            <a:ext cx="1714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7314E98-3D5B-417D-9678-8105B0B9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24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658E3F4-F2C5-4655-8587-7EB3489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76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D098EDD-E034-4181-A4D4-A0283EED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524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One contract to evidence-ready report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08A224AE-5F6F-4647-B042-90695CE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4A35CDB6-97DB-4C12-BD56-8B4C198B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95500"/>
            <a:ext cx="1714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3A133ED-F835-4EA4-A1AA-1C023967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324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B42CE2A-D7F9-47AF-8FE9-AEA1C05F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876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Pilot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9A4D22F-CA84-481E-A19E-29A9A919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24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Scoped tenant, reviewed claims, support path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D277873B-D8E0-4154-B35F-3169C3D3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2" name="panel">
            <a:extLst xmlns:a="http://schemas.openxmlformats.org/drawingml/2006/main">
              <a:ext uri="{FF2B5EF4-FFF2-40B4-BE49-F238E27FC236}">
                <a16:creationId xmlns:a16="http://schemas.microsoft.com/office/drawing/2014/main" id="{2CB7A732-8A2A-463A-8190-C70B5850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95500"/>
            <a:ext cx="1714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1E9D051-094C-4BBC-8C1A-A8DE35D8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324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C96022F-B2AE-4BE9-B5BA-820083A3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8765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29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First customer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7E558EB-AA48-4D66-BFB1-84C7844B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524250"/>
            <a:ext cx="138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Conversion only after success criteria pass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9D4FA5A-53D1-47F1-89E5-03BF0A1D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443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A prospect that needs real CUI storage, automated extraction on sensitive files, or certification guarantees exits this pipeline.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0C010A5-396B-44F6-A3BE-4C854456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66BA064-3DBC-4463-89B6-D681AA1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8643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ext">
            <a:extLst xmlns:a="http://schemas.openxmlformats.org/drawingml/2006/main">
              <a:ext uri="{FF2B5EF4-FFF2-40B4-BE49-F238E27FC236}">
                <a16:creationId xmlns:a16="http://schemas.microsoft.com/office/drawing/2014/main" id="{47498F42-6D31-4FA1-AA5A-3154698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Close the call with one concrete decision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BB9187E-76C3-4135-BB1E-9FCCE9D0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If the buyer fits the No-CUI pilot profile, the next step is not a generic follow-up. It is a scoped pilot decision with data rules, success criteria, and accountable owners.</a:t>
            </a:r>
          </a:p>
        </p:txBody>
      </p:sp>
      <p:sp>
        <p:nvSpPr>
          <p:cNvPr id="3" name="panel">
            <a:extLst xmlns:a="http://schemas.openxmlformats.org/drawingml/2006/main">
              <a:ext uri="{FF2B5EF4-FFF2-40B4-BE49-F238E27FC236}">
                <a16:creationId xmlns:a16="http://schemas.microsoft.com/office/drawing/2014/main" id="{1A0494D5-6DB8-4368-8031-225ABA25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9525">
            <a:solidFill>
              <a:srgbClr val="C3DCEB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706723-3F01-48BE-A426-936A8DF3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38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Ask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495457F-8953-4976-82CF-5AC58FD3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Approve a 30-day No-CUI pilot focused on one contract-to-evidence workflow.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B0843FF6-EF83-4890-853A-0C1B8075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762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D9DEE4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B274318-CB52-48F0-A679-82B709EF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Decision inputs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2EAF4E-30BD-493B-AD5F-5F19D24F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1475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0D10"/>
                </a:solidFill>
                <a:latin typeface="Helvetica Neue"/>
                <a:ea typeface="Helvetica Neue"/>
                <a:cs typeface="Helvetica Neue"/>
              </a:rPr>
              <a:t>Named owner, allowed data set, target report, success criteria, and go/no-go date.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952D0C-94E3-4810-8922-89CED64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Sources: internal GCCS product strategy, MVP roadmap, MVP execution plan, and compliance content governance.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CF8B40B-57D0-4F4C-B0C8-39907414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GCCS | No-CUI compliance management only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E10E656-06A9-4A0D-A542-19A0B893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3412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5A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4680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2026-07-12T18:50:14.1250000Z</dcterms:created>
  <dcterms:modified xsi:type="dcterms:W3CDTF">2026-07-12T18:50:14.1250000Z</dcterms:modified>
</coreProperties>
</file>