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5d8b485c547b4" /><Relationship Type="http://schemas.openxmlformats.org/officeDocument/2006/relationships/extended-properties" Target="/docProps/app.xml" Id="Re0e27efaa26f44c1" /><Relationship Type="http://schemas.openxmlformats.org/officeDocument/2006/relationships/officeDocument" Target="/ppt/presentation.xml" Id="R48ab0bac3de9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765bebb634abc"/>
  </p:sldMasterIdLst>
  <p:notesMasterIdLst>
    <p:notesMasterId xmlns:r="http://schemas.openxmlformats.org/officeDocument/2006/relationships" r:id="Rdec365fa049149c4"/>
  </p:notesMasterIdLst>
  <p:sldIdLst>
    <p:sldId xmlns:r="http://schemas.openxmlformats.org/officeDocument/2006/relationships" id="256" r:id="Ra85e791d091c4ac6"/>
    <p:sldId xmlns:r="http://schemas.openxmlformats.org/officeDocument/2006/relationships" id="257" r:id="R33a1776a8ded49b4"/>
    <p:sldId xmlns:r="http://schemas.openxmlformats.org/officeDocument/2006/relationships" id="258" r:id="R097706efd9cd4bb6"/>
    <p:sldId xmlns:r="http://schemas.openxmlformats.org/officeDocument/2006/relationships" id="259" r:id="R0862388c9ce54a8e"/>
    <p:sldId xmlns:r="http://schemas.openxmlformats.org/officeDocument/2006/relationships" id="260" r:id="Rd2a65ed1cecf40ae"/>
    <p:sldId xmlns:r="http://schemas.openxmlformats.org/officeDocument/2006/relationships" id="261" r:id="Ra8623adf0e56481a"/>
    <p:sldId xmlns:r="http://schemas.openxmlformats.org/officeDocument/2006/relationships" id="262" r:id="Re97886b342414191"/>
    <p:sldId xmlns:r="http://schemas.openxmlformats.org/officeDocument/2006/relationships" id="263" r:id="R4730613b5f1148d1"/>
    <p:sldId xmlns:r="http://schemas.openxmlformats.org/officeDocument/2006/relationships" id="264" r:id="R715e4c73f2e244d3"/>
    <p:sldId xmlns:r="http://schemas.openxmlformats.org/officeDocument/2006/relationships" id="265" r:id="R818cdbee5be64b3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d550f4e794c7b" /><Relationship Type="http://schemas.openxmlformats.org/officeDocument/2006/relationships/slideMaster" Target="/ppt/slideMasters/slideMaster1.xml" Id="R705765bebb634abc" /><Relationship Type="http://schemas.openxmlformats.org/officeDocument/2006/relationships/notesMaster" Target="/ppt/notesMasters/notesMaster1.xml" Id="Rdec365fa049149c4" /><Relationship Type="http://schemas.openxmlformats.org/officeDocument/2006/relationships/presProps" Target="/ppt/presProps.xml" Id="R398314b899ca4ab6" /><Relationship Type="http://schemas.openxmlformats.org/officeDocument/2006/relationships/viewProps" Target="/ppt/viewProps.xml" Id="R163718af839f4333" /><Relationship Type="http://schemas.openxmlformats.org/officeDocument/2006/relationships/tableStyles" Target="/ppt/tableStyles.xml" Id="Readb65cc8ae74511" /><Relationship Type="http://schemas.openxmlformats.org/officeDocument/2006/relationships/slide" Target="/ppt/slides/slide1.xml" Id="Ra85e791d091c4ac6" /><Relationship Type="http://schemas.openxmlformats.org/officeDocument/2006/relationships/slide" Target="/ppt/slides/slide2.xml" Id="R33a1776a8ded49b4" /><Relationship Type="http://schemas.openxmlformats.org/officeDocument/2006/relationships/slide" Target="/ppt/slides/slide3.xml" Id="R097706efd9cd4bb6" /><Relationship Type="http://schemas.openxmlformats.org/officeDocument/2006/relationships/slide" Target="/ppt/slides/slide4.xml" Id="R0862388c9ce54a8e" /><Relationship Type="http://schemas.openxmlformats.org/officeDocument/2006/relationships/slide" Target="/ppt/slides/slide5.xml" Id="Rd2a65ed1cecf40ae" /><Relationship Type="http://schemas.openxmlformats.org/officeDocument/2006/relationships/slide" Target="/ppt/slides/slide6.xml" Id="Ra8623adf0e56481a" /><Relationship Type="http://schemas.openxmlformats.org/officeDocument/2006/relationships/slide" Target="/ppt/slides/slide7.xml" Id="Re97886b342414191" /><Relationship Type="http://schemas.openxmlformats.org/officeDocument/2006/relationships/slide" Target="/ppt/slides/slide8.xml" Id="R4730613b5f1148d1" /><Relationship Type="http://schemas.openxmlformats.org/officeDocument/2006/relationships/slide" Target="/ppt/slides/slide9.xml" Id="R715e4c73f2e244d3" /><Relationship Type="http://schemas.openxmlformats.org/officeDocument/2006/relationships/slide" Target="/ppt/slides/slide10.xml" Id="R818cdbee5be6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f5efbf9e3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7ff69fa214465" /><Relationship Type="http://schemas.openxmlformats.org/officeDocument/2006/relationships/notesMaster" Target="/ppt/notesMasters/notesMaster1.xml" Id="R159509fbde7b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9a92b14cad4bdb" /><Relationship Type="http://schemas.openxmlformats.org/officeDocument/2006/relationships/notesMaster" Target="/ppt/notesMasters/notesMaster1.xml" Id="R3b6f1d1535734d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024261ac744cbf" /><Relationship Type="http://schemas.openxmlformats.org/officeDocument/2006/relationships/notesMaster" Target="/ppt/notesMasters/notesMaster1.xml" Id="R2046900c4f8c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942b17f014c10" /><Relationship Type="http://schemas.openxmlformats.org/officeDocument/2006/relationships/notesMaster" Target="/ppt/notesMasters/notesMaster1.xml" Id="R743243982a58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b99787496e4f04" /><Relationship Type="http://schemas.openxmlformats.org/officeDocument/2006/relationships/notesMaster" Target="/ppt/notesMasters/notesMaster1.xml" Id="Raeaa2d800633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d8e332fd0c4d62" /><Relationship Type="http://schemas.openxmlformats.org/officeDocument/2006/relationships/notesMaster" Target="/ppt/notesMasters/notesMaster1.xml" Id="Rd91175e2e70e48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30b40094104aa7" /><Relationship Type="http://schemas.openxmlformats.org/officeDocument/2006/relationships/notesMaster" Target="/ppt/notesMasters/notesMaster1.xml" Id="R555e1d0ab85548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dabbab57d04c0e" /><Relationship Type="http://schemas.openxmlformats.org/officeDocument/2006/relationships/notesMaster" Target="/ppt/notesMasters/notesMaster1.xml" Id="Rfa97029b4dec4d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00cdb75b154876" /><Relationship Type="http://schemas.openxmlformats.org/officeDocument/2006/relationships/notesMaster" Target="/ppt/notesMasters/notesMaster1.xml" Id="R540b9331f96646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3097bfe9414c54" /><Relationship Type="http://schemas.openxmlformats.org/officeDocument/2006/relationships/notesMaster" Target="/ppt/notesMasters/notesMaster1.xml" Id="Re9cb573ee8a7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boundary: FeDril is a compliance-operations workspace for readiness tracking. It is not a certification body, legal advisor, or CUI storage product.</a:t>
            </a:r>
          </a:p>
          <a:p xmlns:a="http://schemas.openxmlformats.org/drawingml/2006/main">
            <a:r>
              <a:t>Status: Implemented product posture; customer-facing use still requires the pre-publication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problem operational: stale tracking, scattered ownership, and proof gaps. Do not imply a guaranteed regulatory or certification outcome.</a:t>
            </a:r>
          </a:p>
          <a:p xmlns:a="http://schemas.openxmlformats.org/drawingml/2006/main">
            <a:r>
              <a:t>Status: Customer problem hypothesis to validate through discovery conversations.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replacement target is spreadsheet-driven readiness management, not enterprise GRC.</a:t>
            </a:r>
          </a:p>
          <a:p xmlns:a="http://schemas.openxmlformats.org/drawingml/2006/main">
            <a:r>
              <a:t>Avoid claiming that every spreadsheet lacks controls; describe the recurring limitations of ad hoc spreadsheet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positioning: know what applies, track what was done, and preserve reviewable evidence.</a:t>
            </a:r>
          </a:p>
          <a:p xmlns:a="http://schemas.openxmlformats.org/drawingml/2006/main">
            <a:r>
              <a:t>Say review-driven clause and obligation handling. Do not use automated-compliance language.</a:t>
            </a:r>
          </a:p>
          <a:p xmlns:a="http://schemas.openxmlformats.org/drawingml/2006/main">
            <a:r>
              <a:t>Status: Implemented workflows with permission boundaries; no certification determination.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exact current sequence: Profile, Contracts, Obligations, Evidence, Reports, then Settings for audit history.</a:t>
            </a:r>
          </a:p>
          <a:p xmlns:a="http://schemas.openxmlformats.org/drawingml/2006/main">
            <a:r>
              <a:t>Generated obligations and extraction candidates require human review; they are not final compliance determinations.</a:t>
            </a:r>
          </a:p>
          <a:p xmlns:a="http://schemas.openxmlformats.org/drawingml/2006/main">
            <a:r>
              <a:t>Status: Implemented in current UI/API, subject to role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module list to current product surfaces. Do not add SSP builder, SPRS calculator, AI assistant, GovCloud, FedRAMP, SSO, or SCIM.</a:t>
            </a:r>
          </a:p>
          <a:p xmlns:a="http://schemas.openxmlformats.org/drawingml/2006/main">
            <a:r>
              <a:t>Audit-log visibility is permission-controlled. Report artifacts are workflow guidance.</a:t>
            </a:r>
          </a:p>
          <a:p xmlns:a="http://schemas.openxmlformats.org/drawingml/2006/main">
            <a:r>
              <a:t>Status: Implemented product surface; depth varies by workflow and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this boundary before discussing evidence upload, pilot setup, or support intake.</a:t>
            </a:r>
          </a:p>
          <a:p xmlns:a="http://schemas.openxmlformats.org/drawingml/2006/main">
            <a:r>
              <a:t>The API blocks contract-document and evidence upload workflows until the current No-CUI acknowledgement exists.</a:t>
            </a:r>
          </a:p>
          <a:p xmlns:a="http://schemas.openxmlformats.org/drawingml/2006/main">
            <a:r>
              <a:t>Verification: focused API tests passed on July 29, 2026.</a:t>
            </a:r>
          </a:p>
          <a:p xmlns:a="http://schemas.openxmlformats.org/drawingml/2006/main">
            <a:r>
              <a:t>Status: Implemented No-CUI acknowledgement enforcement; future CUI-ready operation is planned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qualify. Stop or defer prospects that require real CUI, certification guarantees, or enterprise procurement features on day one.</a:t>
            </a:r>
          </a:p>
          <a:p xmlns:a="http://schemas.openxmlformats.org/drawingml/2006/main">
            <a:r>
              <a:t>Status: Internal ideal-customer hypothesis; validate through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terms are hypotheses, not an implemented checkout or counsel-approved order form.</a:t>
            </a:r>
          </a:p>
          <a:p xmlns:a="http://schemas.openxmlformats.org/drawingml/2006/main">
            <a:r>
              <a:t>Default internal pilot hypothesis is $750 within the displayed $500–$1,500 test range.</a:t>
            </a:r>
          </a:p>
          <a:p xmlns:a="http://schemas.openxmlformats.org/drawingml/2006/main">
            <a:r>
              <a:t>Status: Planned business offer. Requires counsel/finance review and written terms before customer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concrete next step: fit call, demo, named pilot owner, or paid-pilot decision.</a:t>
            </a:r>
          </a:p>
          <a:p xmlns:a="http://schemas.openxmlformats.org/drawingml/2006/main">
            <a:r>
              <a:t>Keep the pilot restricted to synthetic, redacted, or non-sensitive data.</a:t>
            </a:r>
          </a:p>
          <a:p xmlns:a="http://schemas.openxmlformats.org/drawingml/2006/main">
            <a:r>
              <a:t>Status: Planned call to action; no public payment or order-form flow was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Content: docs/marketing/fedril-phase-2-sales-deck.md</a:t>
            </a:r>
          </a:p>
          <a:p xmlns:a="http://schemas.openxmlformats.org/drawingml/2006/main">
            <a:r>
              <a:t>Claim controls and status labels: docs/marketing/controlled-customer-discovery-roadmap.md</a:t>
            </a:r>
          </a:p>
          <a:p xmlns:a="http://schemas.openxmlformats.org/drawingml/2006/main">
            <a:r>
              <a:t>Product posture: AGENTS.md (No-CUI / compliance management MVP)</a:t>
            </a:r>
          </a:p>
          <a:p xmlns:a="http://schemas.openxmlformats.org/drawingml/2006/main">
            <a:r>
              <a:t>Slide-specific source: docs/marketing/fedril-phase-2-sales-deck.md#slide-10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057cb7d6640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e42189ce44d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c61e864f64c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d2ec6a9aa4c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3266839c946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6ed504de94a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5e142988447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8c6d22dc346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cdaa57b6349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f598d0d55453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5442a945e4d4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CEE18-754C-4F02-845D-2FAB6F3B58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65A48F0-EF14-4F32-825B-7326DD67D8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20982C-B221-488B-8BF1-5601B69BFF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18C647-9392-4E6D-B1F5-06885F81A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5A958C-D322-4B9C-834F-830CA4DA6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D40A6D-6C59-4869-94F2-184E165DE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6AF7A7-810E-41DE-8C8D-99CF0F72F5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938510-A6C8-4BD5-A373-2E72BC763D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ED4906-F7BD-43EC-A90C-1D85E2BF8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D9C20D-B1F1-4F07-82AD-18901742CA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47D41C-CA64-4085-9DA8-FE5B0EB73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7C7BA-02D4-4259-ABC0-E6057A194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5FC3AE-8472-4C8A-AD57-F85CF7AC4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DA6864-0B06-404B-9EED-BD485EF125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C225C4-A6EE-4900-B7EE-ECDEECE1BA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B9A399-9449-48D8-8228-05D3CDA81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4BC4C3-9443-4DF0-89F5-43950C17F4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642B6C9-ADC8-4722-84E0-1417860F92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B309E3F-6345-4BE4-8FAA-131D5A35A8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357020-6876-43A9-967A-79E0BB8CAF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191478-4CDF-4BC6-AEEB-6BBF77E94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32B5D9-553A-4266-A77B-5D76DCCF5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836C4D-2287-4C0E-93C4-03EFDFC481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290F8B-7BB7-4701-9CB9-28BB61360A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9DC4A9E-168A-4488-97CF-E26B4C6C8E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590C2CB-E276-4295-AB1D-D9FE924584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569DE6-0378-4B2D-81B3-85C2CA98DF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E5C822-3EFC-40FE-8879-8DC54281A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09DB68C-5AE7-492F-8ED1-8C3B9C766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2CF815-97A6-4F5F-A87A-C8A0F2DCD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AA77DE-F984-4BDF-9180-C6869196B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667A719-C7C3-445B-BD48-6E87AC335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E4A736E-6E84-4479-9B22-86D702E0F4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FF22E2-BF42-453A-AD03-9BEC49527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330A82-0A83-4603-AB0E-C4E667D5CB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3FE13F-8E3C-44B5-AD29-E956A2C950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CFB2FD-BCFD-4E16-AF80-3DD0F978A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25B7E6-6489-4F3B-8C6F-B31E39293E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151CB5A-030A-4565-8B5B-78B4907D3D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9416EF-634F-4478-BD25-44DEDAEEF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53D856-6018-4690-9DA6-D7D46668D3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4B6237-04F3-43BD-9015-7BA10169E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22806C-4934-4D82-B559-69C3018A6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BFA49F-64A0-4629-8FF5-3D3865CCF3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864C36D-06F4-42DE-BCF7-3F18BF89D2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F9DAD0C-7B1A-43D3-8537-913CDB603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306CB9-AD26-4BCD-A8ED-AD97C51B2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481E38-D44F-4879-B4DE-1E661CD762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EC436D-5EB3-410B-85DE-08371E854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D619EB-7150-48C6-BADD-D44CE63750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3C8E46-B0BD-40AD-B255-FBFD561006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533396-0523-4DAA-9ED0-A0DA5D4A7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3D3B71-07D0-4143-AEA9-40FA48777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85D13C2-98D6-424B-B81F-A8185318F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2E9373-7FF2-41B0-9E11-B6D5A5CB7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112B38-44C2-4788-886E-F48659DAB2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C821A9-A2F4-4AA4-9300-19F164BCB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BAA88C-DD57-4D41-B166-64FD04A4DE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021384840432a" /><Relationship Type="http://schemas.openxmlformats.org/officeDocument/2006/relationships/slideLayout" Target="/ppt/slideLayouts/slideLayout1.xml" Id="Rf8cfe18ccd184f7a" /><Relationship Type="http://schemas.openxmlformats.org/officeDocument/2006/relationships/slideLayout" Target="/ppt/slideLayouts/slideLayout2.xml" Id="Rc0bc6f8ccd2740ab" /><Relationship Type="http://schemas.openxmlformats.org/officeDocument/2006/relationships/slideLayout" Target="/ppt/slideLayouts/slideLayout3.xml" Id="R981826eb43ea45f1" /><Relationship Type="http://schemas.openxmlformats.org/officeDocument/2006/relationships/slideLayout" Target="/ppt/slideLayouts/slideLayout4.xml" Id="R9b53727827194dab" /><Relationship Type="http://schemas.openxmlformats.org/officeDocument/2006/relationships/slideLayout" Target="/ppt/slideLayouts/slideLayout5.xml" Id="R400237fa773f4a61" /><Relationship Type="http://schemas.openxmlformats.org/officeDocument/2006/relationships/slideLayout" Target="/ppt/slideLayouts/slideLayout6.xml" Id="Rd7d24ea5683348fe" /><Relationship Type="http://schemas.openxmlformats.org/officeDocument/2006/relationships/slideLayout" Target="/ppt/slideLayouts/slideLayout7.xml" Id="Rd4931f6f2dbb48e4" /><Relationship Type="http://schemas.openxmlformats.org/officeDocument/2006/relationships/slideLayout" Target="/ppt/slideLayouts/slideLayout8.xml" Id="R1aaaa8aa3ec14530" /><Relationship Type="http://schemas.openxmlformats.org/officeDocument/2006/relationships/slideLayout" Target="/ppt/slideLayouts/slideLayout9.xml" Id="R7c48317d94d144e5" /><Relationship Type="http://schemas.openxmlformats.org/officeDocument/2006/relationships/slideLayout" Target="/ppt/slideLayouts/slideLayout10.xml" Id="Rec9325aa91954c9e" /><Relationship Type="http://schemas.openxmlformats.org/officeDocument/2006/relationships/slideLayout" Target="/ppt/slideLayouts/slideLayout11.xml" Id="Reba76f6fe32042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62AF3C5-DE37-4C78-AE0C-3DCA666BC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C98D47-A619-4235-BD43-F1DD463E3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3D6B94-33B5-4628-9A22-8430784ED9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EF3CD2-8F9E-4C53-AA70-C848D62132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FA0459-88EA-4D0D-A03A-A2BA41D24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fe18ccd184f7a"/>
    <p:sldLayoutId xmlns:r="http://schemas.openxmlformats.org/officeDocument/2006/relationships" id="2147483650" r:id="Rc0bc6f8ccd2740ab"/>
    <p:sldLayoutId xmlns:r="http://schemas.openxmlformats.org/officeDocument/2006/relationships" id="2147483651" r:id="R981826eb43ea45f1"/>
    <p:sldLayoutId xmlns:r="http://schemas.openxmlformats.org/officeDocument/2006/relationships" id="2147483652" r:id="R9b53727827194dab"/>
    <p:sldLayoutId xmlns:r="http://schemas.openxmlformats.org/officeDocument/2006/relationships" id="2147483653" r:id="R400237fa773f4a61"/>
    <p:sldLayoutId xmlns:r="http://schemas.openxmlformats.org/officeDocument/2006/relationships" id="2147483654" r:id="Rd7d24ea5683348fe"/>
    <p:sldLayoutId xmlns:r="http://schemas.openxmlformats.org/officeDocument/2006/relationships" id="2147483655" r:id="Rd4931f6f2dbb48e4"/>
    <p:sldLayoutId xmlns:r="http://schemas.openxmlformats.org/officeDocument/2006/relationships" id="2147483656" r:id="R1aaaa8aa3ec14530"/>
    <p:sldLayoutId xmlns:r="http://schemas.openxmlformats.org/officeDocument/2006/relationships" id="2147483657" r:id="R7c48317d94d144e5"/>
    <p:sldLayoutId xmlns:r="http://schemas.openxmlformats.org/officeDocument/2006/relationships" id="2147483658" r:id="Rec9325aa91954c9e"/>
    <p:sldLayoutId xmlns:r="http://schemas.openxmlformats.org/officeDocument/2006/relationships" id="2147483659" r:id="Reba76f6fe3204232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ed4e2b5c2541e6" /><Relationship Type="http://schemas.openxmlformats.org/officeDocument/2006/relationships/notesSlide" Target="/ppt/notesSlides/notesSlide1.xml" Id="Rae555c201a624b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279e58dfa04980" /><Relationship Type="http://schemas.openxmlformats.org/officeDocument/2006/relationships/notesSlide" Target="/ppt/notesSlides/notesSlide2.xml" Id="R0e272d747224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d89cc2082c48a8" /><Relationship Type="http://schemas.openxmlformats.org/officeDocument/2006/relationships/notesSlide" Target="/ppt/notesSlides/notesSlide3.xml" Id="Rdbcf6df1b26d46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c72aad798948dd" /><Relationship Type="http://schemas.openxmlformats.org/officeDocument/2006/relationships/notesSlide" Target="/ppt/notesSlides/notesSlide4.xml" Id="Rae643ce2f3184d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0537d239c441e7" /><Relationship Type="http://schemas.openxmlformats.org/officeDocument/2006/relationships/notesSlide" Target="/ppt/notesSlides/notesSlide5.xml" Id="R3acde1d22a4e4d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2ff46b22a64796" /><Relationship Type="http://schemas.openxmlformats.org/officeDocument/2006/relationships/notesSlide" Target="/ppt/notesSlides/notesSlide6.xml" Id="R0162546e0e1e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3f03ff4d0b485d" /><Relationship Type="http://schemas.openxmlformats.org/officeDocument/2006/relationships/notesSlide" Target="/ppt/notesSlides/notesSlide7.xml" Id="R8a82fd0626fc41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84b6fc5d094678" /><Relationship Type="http://schemas.openxmlformats.org/officeDocument/2006/relationships/notesSlide" Target="/ppt/notesSlides/notesSlide8.xml" Id="R6d9b2fe893a14b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516139945c4b7e" /><Relationship Type="http://schemas.openxmlformats.org/officeDocument/2006/relationships/notesSlide" Target="/ppt/notesSlides/notesSlide9.xml" Id="Rf5cafa1623244e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584edbaa6e4c7f" /><Relationship Type="http://schemas.openxmlformats.org/officeDocument/2006/relationships/notesSlide" Target="/ppt/notesSlides/notesSlide10.xml" Id="R3f56ec4da6624a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2A1F08-7977-4100-B98B-CAAD0BCF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947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61AE502-B2CB-421A-B712-E687E72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005840"/>
            <a:ext cx="1920240" cy="1920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AA46235-E090-4F08-B5FB-803E426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27632"/>
            <a:ext cx="1444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F84AB1-B313-4E45-A043-C93C98DB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04672"/>
            <a:ext cx="6949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MVP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22B299-84B9-4022-849D-9E4AE890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25880"/>
            <a:ext cx="68580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Compliance Readiness Tracking For Small Government Contractors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9237C3-05D0-4286-8794-5E93F5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063240"/>
            <a:ext cx="662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Organize source-backed obligations, assign ownership, track evidence metadata, and generate current report artifacts under a No-CUI posture.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E296759-0157-4D8D-88A3-EDAC631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17720"/>
            <a:ext cx="489204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E3D2C5-948A-4F77-B30E-DC7670BB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764024"/>
            <a:ext cx="4434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Readiness tracking, not certification or legal advice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3B1EDE-9BF7-4A9F-B0BB-4E82C3D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161AAA-1F68-4ABB-A1A1-380DCC7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7363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A9B64B-7F7F-48F4-9F88-FFAC832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5C597A-48FB-4825-87D6-17F4084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F567-BBB7-40A6-AEBF-51F3874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Small Contractors Are Asked To Prove Readiness, But The Work Is Scattered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7691C7-06C7-43A1-B756-1AC50D8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obligations live in PDFs, spreadsheets, email, and shared drives.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exists, but teams cannot quickly prove what it supports.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Ownership and due dates depend on manual follow-up.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Status snapshots and evidence packages are rebuilt for every prime, customer, advisor, or internal review.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Readiness status often depends on one person knowing where everything is.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F92EDA-3370-4CCE-8AF0-6C0B7AB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F06278-FC3B-4361-BFC1-B121E9D9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2178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BD13B-45DA-4C9E-B896-A93F028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6FEF5D-3E10-4C8E-87A5-5F55B43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CURRENT WORKFLOW FAILURE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5042A6-9242-40FD-BB5E-A7E7200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Spreadsheets Track Lists. They Do Not Manage Compliance Workflows.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EFB5F1F-C431-4FE9-95A4-03231455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62179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source-backed obligation history.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Weak evidence traceability.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consistent audit trail.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structured owner, status, and review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safe data-handling boundary for prohibited information.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7DDC004-C947-4C79-AB06-FB3E68C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874519"/>
            <a:ext cx="388620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F47AD-C9DA-47D3-A72B-20F11C8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12848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Break point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8FC2FE-CB8D-4546-8D25-13B2E8E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6352"/>
            <a:ext cx="3154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The first replacement target is spreadsheet-driven readiness management, not enterprise GRC.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4DC6FDF-28F9-4753-8A4C-8242DE50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BBBC02-C151-434F-A4D3-472EB72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8633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A7188-1BE1-4B28-AC93-457FDF1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C8A2A0-A300-45B3-A326-E959332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THE PROMISE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1C4B79-63C9-4E49-94A3-32F1257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Know What Applies. Track What Was Done. Stay Ready To Prove It.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3F6081-8EC2-4577-A4C4-08C90E3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Turn contract and compliance requirements into owned obligations.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Track evidence metadata without using FeDril as a CUI repository.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Monitor readiness across obligations, calendar items, reports, and reviews.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Preserve audit history for compliance-relevant activity.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Keep customer-facing content source-backed and reviewable.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5225BD-49CF-4A8C-8CC0-516EEF4A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E942FE-9831-48DE-8B9E-DB858F4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7037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8A5166-0843-42A8-BD06-5EE6C43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6F572D-0871-4BCC-AD1F-98AFF35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235C94"/>
                </a:solidFill>
                <a:latin typeface="Aptos"/>
                <a:ea typeface="Aptos"/>
                <a:cs typeface="Aptos"/>
              </a:defRPr>
            </a:pPr>
            <a:r>
              <a:t>HOW IT WORKS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B80823-CB0A-4F56-B715-946BD827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A Simple Workflow For Readiness Operations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255ECAA-EE21-48D9-ADAA-D8AD144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A72D88F-15D1-4A4E-BAA0-F4631F1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470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A24A7C1-1A82-4191-8EFA-EAF28397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2024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37C24D-1068-4504-8FAD-05FC1A97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86537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Set up company profile and data-handling posture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CF34FDA-7425-47E3-9ABF-41D71BA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04872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C5CE3F5-2228-4436-9CF1-9970108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14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1C1667-41C2-4FBB-B1A4-CB9CE28C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587752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46E946-59B2-4D7B-9E66-D585039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32888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Add contract metadata and attach or review clauses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E91D0AF-3DBA-488E-AA14-2E9A2DE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7B556F3E-51E9-43B6-8841-6C2AA53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1821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781E88-8DCF-4A4C-9958-67A3AC9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55264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452DED-6EE5-47C3-9107-8E83B97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0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and review source-backed obligations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8A14EE-1C3B-436B-847F-5BB16099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39896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C647237-FC6A-465C-AA8B-6A6935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84962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330DC2C-C584-406C-A0FC-6CB04EA4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22776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4BB1F1-F9FE-46E6-87C3-0389F79C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867911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Assign owners and update workflow status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F00D460-99FA-4D2D-8F8D-8E51B31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07408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B24353CD-A770-4C8E-8B9D-38F5BF2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51713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CB400EC-938E-4357-991B-C5717DB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590288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B7FED5-8779-4AD8-B3E3-724CFCB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535424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Create and link allowed evidence metadata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0AC0061-2C4E-4D7F-B9A2-8458AD1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59BA8BF-0BA2-4BF6-B95A-C95865AC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18464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C3C358-1F62-407B-A575-2A2FF468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25780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B84640C-7E45-4F96-9471-A32D8F7B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0293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reports and review audit history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1FB2995-474A-4E5F-93C0-88B6D425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E817871-2D29-4B63-874C-68F9EC52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000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41C7AF-C19F-4B28-8980-DD243B30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9B114B-F966-4B27-A30F-D982490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39794C"/>
                </a:solidFill>
                <a:latin typeface="Aptos"/>
                <a:ea typeface="Aptos"/>
                <a:cs typeface="Aptos"/>
              </a:defRPr>
            </a:pPr>
            <a:r>
              <a:t>MVP SCOPE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B13371-8EB5-4303-BC76-F13D1E2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Focused Modules For High-Frequency GovCon Compliance Work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3C34D59-A0A0-41B3-AE42-9E877D3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9B08CB-FB2F-4EA0-96CA-26FAB1C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compliance profile.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D4678CD-3D61-46F5-B349-46286B66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BF89E68-0C0B-4F10-AD8A-05496233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and clause intake with review-driven clause handling.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E5DB42B-5749-48B9-B818-93CA2F8E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E2B0F7-C285-456D-9C2B-705F6AC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Source-backed obligation dashboard and compliance calendar.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E73663F-0399-4486-B6F0-FF5F385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A96540-2521-462F-924E-E0C5010F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023360"/>
            <a:ext cx="25146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workspace with No-CUI upload guardrails for allowed non-sensitive evidence.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5CF7DB4-5A87-44DC-97B2-EE6E0C0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B463E3-0738-45D9-A5B3-E44C3FC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CMMC Level 1 and Level 2 readiness tracker.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4BF6433-54C2-4FB0-ADE4-6272797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CEFDE2B-DE87-4464-9702-77A1790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Subcontractor flow-down tracker, reports, and audit log.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FDA533F-FE0C-44D4-AB11-FD75174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C557C4-D76A-4E65-B516-2485BCD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90554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E57D82-ED63-4722-B039-D8F570F6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C80ABF-B6DA-47E6-BC3C-87BA693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TRUST BOUNDARY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658173-816A-495A-AB5E-4AAA6FA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Built For No-CUI Compliance Management First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2792E50-FD2D-44C7-A6A6-E76D60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0652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F2"/>
          </a:solidFill>
          <a:ln xmlns:a="http://schemas.openxmlformats.org/drawingml/2006/main" w="12700">
            <a:solidFill>
              <a:srgbClr val="AB45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CD8F97-5825-490C-96D3-02ABCF7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74519"/>
            <a:ext cx="10012680" cy="2423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State this boundary before evidence upload, pilot setup, or support intake.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148337-740B-4F23-859A-5A46B5D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1760"/>
            <a:ext cx="1014984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Real CUI is prohibited in the MVP.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Classified information, ITAR/export-controlled data, credentials, payroll, SSNs, health data, and sensitive incident details are prohibited.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Pilot workflows use synthetic, redacted, or non-sensitive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Reports are workflow guidance, not legal advice, certification decisions, or assessor determinations.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Future CUI-ready operation requires separately approved architecture, controls, terms, and support.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11426D-62B1-4618-92B3-4DC84089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07B30F0-130A-4DA1-8D51-52E49C1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0767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BB8FF1-2BC2-4AA6-9A5C-E8AF9F0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D2DB4F-4896-4A20-B231-5355FBB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BEST-FIT BUYERS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E0B231-0CEF-4F11-8E84-95CC3F9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For Small Teams That Need Readiness Discipline Without Enterprise GRC Overhead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7C0ADC1-B3CD-47DB-976A-0579223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55648"/>
            <a:ext cx="53492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AF8"/>
          </a:solidFill>
          <a:ln xmlns:a="http://schemas.openxmlformats.org/drawingml/2006/main" w="12700">
            <a:solidFill>
              <a:srgbClr val="BEE0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9CB01-4200-499C-AD49-6E6ACCA5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84248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 fit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775274-1357-4FFC-8B04-E7D1DD7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4709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federal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subcontractors to large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DoD suppliers preparing for CMMC-related reviews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8(a), WOSB, HUBZone, SDVOSB, and SDB participants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MSPs, consultants, contracts admins, and advisors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3926E53-9059-42E6-B881-EE937B67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8920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12700">
            <a:solidFill>
              <a:srgbClr val="ECC7C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EE354-8A51-4D45-9AF4-F46770B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84248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Defer or disqualify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096380-DF6C-407F-AE4E-7F77C08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6040"/>
            <a:ext cx="41605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Immediate real-CUI handling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Certification guarantees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Day-one SSO, SCIM, GovCloud, FedRAMP, or custom procurement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B38E51-95EA-4DDB-A7CD-BA92058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E9EBF3-2A11-4EC0-82CD-E459F86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8913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154E62-EF50-4912-8122-2EA3796C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DF46F0-BDCF-4298-853E-20663732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OFFER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CB82DE-49D6-4E46-981B-3A802ED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Validate The Workflow With One Guided Readiness Pilot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E655DA-6880-4A71-A65B-B5598300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67665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profile setup and one contract or synthetic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Manual clause attachment and generated obligation review, plus readiness dashboard walkthrough.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setup using allowed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Compliance Status, CMMC Readiness, or Evidence Package generation where applicable, plus end-of-pilot findings session.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Commercial hypothesis: $500–$1,500 paid pilot; conversion credit requires written terms.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C0BF639-0CCC-40DD-BEF6-4CEF9D9B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74519"/>
            <a:ext cx="315468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12700">
            <a:solidFill>
              <a:srgbClr val="E8CFA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368DD2-A5BA-414D-A01C-300FC14B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12848"/>
            <a:ext cx="25420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boundaries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8728D8A-18E0-4FD6-91E8-3E0D349B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4320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real CUI</a:t>
            </a:r>
            <a:br/>
            <a:r>
              <a:t>No legal advice</a:t>
            </a:r>
            <a:br/>
            <a:r>
              <a:t>No certification claims</a:t>
            </a:r>
            <a:br/>
            <a:r>
              <a:t>No custom integrations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199B70-7FE9-4860-876A-08F5353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6257BA-91C4-4D23-A941-8F48610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02765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86F34B-D8D6-4DDB-ABB6-5ABF33B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DAD0CB-FE66-47F0-8BFE-B8D3825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NEXT STEP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7222B7-AFDD-4FF9-98EC-13CE094A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Replace One Fragile Compliance Workflow With A Controlled Readiness Workspace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DE7A43-3E90-4CE8-820A-7585F82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55648"/>
            <a:ext cx="5760720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Schedule a 30-minute fit call.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Select one contract or synthetic readiness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Confirm No-CUI pilot boundaries.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Identify the internal owner.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Start the 30-day guided pilot.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2737782-E8FC-40C3-B4DF-772BE49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74519"/>
            <a:ext cx="3977639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9F7"/>
          </a:solidFill>
          <a:ln xmlns:a="http://schemas.openxmlformats.org/drawingml/2006/main" w="12700">
            <a:solidFill>
              <a:srgbClr val="BFE0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6E448F8-74C8-4142-A506-C8416DA7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212848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FeDril helps your team organize what applies, track who owns it, and produce readiness evidence without scattered spreadsheets.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1903466-116D-4A2B-91C4-10A9684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822191"/>
            <a:ext cx="2331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42A8B8-B803-49AB-BEB9-67C7529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977639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Request pilot demo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3C28BC1-01DC-4031-95D2-0CA2401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0E35748-D8BA-42FD-9C06-2B48A58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96619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2026-07-30T00:09:43.2760000Z</dcterms:created>
  <dcterms:modified xsi:type="dcterms:W3CDTF">2026-07-30T00:09:43.2760000Z</dcterms:modified>
</coreProperties>
</file>